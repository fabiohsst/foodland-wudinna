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63D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731520"/>
            <a:ext cx="2560320" cy="2560320"/>
          </a:xfrm>
          <a:prstGeom prst="ellipse">
            <a:avLst/>
          </a:prstGeom>
          <a:solidFill>
            <a:srgbClr val="2E86C1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3200400"/>
            <a:ext cx="2011680" cy="2011680"/>
          </a:xfrm>
          <a:prstGeom prst="ellipse">
            <a:avLst/>
          </a:prstGeom>
          <a:solidFill>
            <a:srgbClr val="1A7A44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0" y="1005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300" kern="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BRIEFING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309360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0" y="2011680"/>
            <a:ext cx="502920" cy="502920"/>
          </a:xfrm>
          <a:prstGeom prst="ellipse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2360" y="1920240"/>
            <a:ext cx="640080" cy="640080"/>
          </a:xfrm>
          <a:prstGeom prst="ellipse">
            <a:avLst/>
          </a:prstGeom>
          <a:solidFill>
            <a:srgbClr val="1A7A44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2057400"/>
            <a:ext cx="457200" cy="457200"/>
          </a:xfrm>
          <a:prstGeom prst="ellipse">
            <a:avLst/>
          </a:prstGeom>
          <a:solidFill>
            <a:srgbClr val="1A7A44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8229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600" kern="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&amp; VEG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23444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Data-Driven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Initiative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114800" cy="36576"/>
          </a:xfrm>
          <a:prstGeom prst="rect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175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Recommendations &amp; Tools Built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4747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Foodland Wudinna  |  Wudinna SA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7947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Fábio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Will Cover Today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64008"/>
          </a:xfrm>
          <a:prstGeom prst="rect">
            <a:avLst/>
          </a:prstGeom>
          <a:solidFill>
            <a:srgbClr val="922B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22B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 was needed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2743200" cy="64008"/>
          </a:xfrm>
          <a:prstGeom prst="rect">
            <a:avLst/>
          </a:prstGeom>
          <a:solidFill>
            <a:srgbClr val="CA6F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143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A6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0058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005840"/>
            <a:ext cx="2743200" cy="64008"/>
          </a:xfrm>
          <a:prstGeom prst="rect">
            <a:avLst/>
          </a:prstGeom>
          <a:solidFill>
            <a:srgbClr val="1B4F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143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09360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Impact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losses and projections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78892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788920"/>
            <a:ext cx="2743200" cy="64008"/>
          </a:xfrm>
          <a:prstGeom prst="rect">
            <a:avLst/>
          </a:prstGeom>
          <a:solidFill>
            <a:srgbClr val="2E86C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926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86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5720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Built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794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Notebook, waste log, KPI report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278892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788920"/>
            <a:ext cx="2743200" cy="64008"/>
          </a:xfrm>
          <a:prstGeom prst="rect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926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7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38328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794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actions with targets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278892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2788920"/>
            <a:ext cx="2743200" cy="64008"/>
          </a:xfrm>
          <a:prstGeom prst="rect">
            <a:avLst/>
          </a:prstGeom>
          <a:solidFill>
            <a:srgbClr val="5D6D7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926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5D6D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30936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Need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3794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requested from management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8280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0040" y="48280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Foodland Wudinna  |  Confidential  | 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22B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56032"/>
            <a:ext cx="1371600" cy="256032"/>
          </a:xfrm>
          <a:prstGeom prst="rect">
            <a:avLst/>
          </a:prstGeom>
          <a:solidFill>
            <a:srgbClr val="922B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Something is going wrong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the Fruit &amp; Veg department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visibility into daily sales patterns, waste events, and markdown trends, 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ordering by gut feel — and the data shows it is costing us.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2578608"/>
            <a:ext cx="201168" cy="201168"/>
          </a:xfrm>
          <a:prstGeom prst="ellipse">
            <a:avLst/>
          </a:prstGeom>
          <a:solidFill>
            <a:srgbClr val="922B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55117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trading day is declining year-on-year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2990088"/>
            <a:ext cx="201168" cy="201168"/>
          </a:xfrm>
          <a:prstGeom prst="ellipse">
            <a:avLst/>
          </a:prstGeom>
          <a:solidFill>
            <a:srgbClr val="922B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6265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markdown events have surged to 8× prior-year rate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3401568"/>
            <a:ext cx="201168" cy="201168"/>
          </a:xfrm>
          <a:prstGeom prst="ellipse">
            <a:avLst/>
          </a:prstGeom>
          <a:solidFill>
            <a:srgbClr val="922B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3741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waste log — losses are invisible until month-end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3813048"/>
            <a:ext cx="201168" cy="201168"/>
          </a:xfrm>
          <a:prstGeom prst="ellipse">
            <a:avLst/>
          </a:prstGeom>
          <a:solidFill>
            <a:srgbClr val="922B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78561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demand forecast — ordering is based on memory and experience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4224528"/>
            <a:ext cx="201168" cy="201168"/>
          </a:xfrm>
          <a:prstGeom prst="ellipse">
            <a:avLst/>
          </a:prstGeom>
          <a:solidFill>
            <a:srgbClr val="922B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19709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Open-ring scanning hides what products are actually being sold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868680"/>
            <a:ext cx="2834640" cy="1371600"/>
          </a:xfrm>
          <a:prstGeom prst="rect">
            <a:avLst/>
          </a:prstGeom>
          <a:solidFill>
            <a:srgbClr val="163D55"/>
          </a:solidFill>
          <a:ln w="25400">
            <a:solidFill>
              <a:srgbClr val="922B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9601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922B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+51.3%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126480" y="1600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increase 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avoidable GP losses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2423160"/>
            <a:ext cx="2834640" cy="1371600"/>
          </a:xfrm>
          <a:prstGeom prst="rect">
            <a:avLst/>
          </a:prstGeom>
          <a:solidFill>
            <a:srgbClr val="163D55"/>
          </a:solidFill>
          <a:ln w="25400">
            <a:solidFill>
              <a:srgbClr val="CA6F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6480" y="25146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A6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×8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126480" y="3154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waste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per day (2025→2026)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63D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8280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Problem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0040" y="48280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Foodland Wudinna  |  Confidential  | 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Findings: Department Snapshot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8001000" y="256032"/>
            <a:ext cx="1371600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010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07899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$2,448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11480" y="190195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/ Day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1938528"/>
            <a:ext cx="685800" cy="237744"/>
          </a:xfrm>
          <a:prstGeom prst="rect">
            <a:avLst/>
          </a:prstGeom>
          <a:solidFill>
            <a:srgbClr val="922B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93852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-6.4%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35000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2025 same period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18688" y="91440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55848" y="107899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37.8%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355848" y="190195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30368" y="1938528"/>
            <a:ext cx="685800" cy="237744"/>
          </a:xfrm>
          <a:prstGeom prst="rect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193852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+0.5pp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55848" y="235000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2025 same period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63056" y="91440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00216" y="107899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626→611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300216" y="190195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Sold / Day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74736" y="1938528"/>
            <a:ext cx="685800" cy="237744"/>
          </a:xfrm>
          <a:prstGeom prst="rect">
            <a:avLst/>
          </a:prstGeom>
          <a:solidFill>
            <a:srgbClr val="CA6F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74736" y="193852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-2.4%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300216" y="235000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2025 same period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2788920"/>
            <a:ext cx="2788920" cy="1691640"/>
          </a:xfrm>
          <a:prstGeom prst="rect">
            <a:avLst/>
          </a:prstGeom>
          <a:solidFill>
            <a:srgbClr val="FADBD8"/>
          </a:solidFill>
          <a:ln w="12700">
            <a:solidFill>
              <a:srgbClr val="FADB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295351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22B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$15.89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411480" y="37764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Avoidable GP Loss / Day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0" y="3813048"/>
            <a:ext cx="685800" cy="237744"/>
          </a:xfrm>
          <a:prstGeom prst="rect">
            <a:avLst/>
          </a:prstGeom>
          <a:solidFill>
            <a:srgbClr val="922B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381304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+51.3%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11480" y="42245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2025 same period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18688" y="2788920"/>
            <a:ext cx="2788920" cy="1691640"/>
          </a:xfrm>
          <a:prstGeom prst="rect">
            <a:avLst/>
          </a:prstGeom>
          <a:solidFill>
            <a:srgbClr val="FADBD8"/>
          </a:solidFill>
          <a:ln w="12700">
            <a:solidFill>
              <a:srgbClr val="FADB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355848" y="295351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22B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8.24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3355848" y="37764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Events / Day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230368" y="3813048"/>
            <a:ext cx="685800" cy="237744"/>
          </a:xfrm>
          <a:prstGeom prst="rect">
            <a:avLst/>
          </a:prstGeom>
          <a:solidFill>
            <a:srgbClr val="922B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81304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+505%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55848" y="42245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2025 same period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63056" y="2788920"/>
            <a:ext cx="2788920" cy="1691640"/>
          </a:xfrm>
          <a:prstGeom prst="rect">
            <a:avLst/>
          </a:prstGeom>
          <a:solidFill>
            <a:srgbClr val="D5F0E3"/>
          </a:solidFill>
          <a:ln w="12700">
            <a:solidFill>
              <a:srgbClr val="D5F0E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00216" y="295351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22B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$12.05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6300216" y="37764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Specials GP Cost / Day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74736" y="3813048"/>
            <a:ext cx="685800" cy="237744"/>
          </a:xfrm>
          <a:prstGeom prst="rect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74736" y="381304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-21.2%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300216" y="4224528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2025 same period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8280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Key Findings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20040" y="48280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Foodland Wudinna  |  Confidential  | 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922B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Finding 1 — Waste is the #1 Urgent Problem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7548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FV Lines per Trading Day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13954" y="3808868"/>
            <a:ext cx="502920" cy="168772"/>
          </a:xfrm>
          <a:prstGeom prst="rect">
            <a:avLst/>
          </a:prstGeom>
          <a:solidFill>
            <a:srgbClr val="2E86C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2514" y="35802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8234" y="400507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25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365069" y="3578047"/>
            <a:ext cx="502920" cy="399593"/>
          </a:xfrm>
          <a:prstGeom prst="rect">
            <a:avLst/>
          </a:prstGeom>
          <a:solidFill>
            <a:srgbClr val="2E86C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73629" y="3349447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19349" y="400507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25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116183" y="3709590"/>
            <a:ext cx="502920" cy="268050"/>
          </a:xfrm>
          <a:prstGeom prst="rect">
            <a:avLst/>
          </a:prstGeom>
          <a:solidFill>
            <a:srgbClr val="2E86C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24743" y="348099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70463" y="400507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25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867297" y="2351967"/>
            <a:ext cx="502920" cy="1625673"/>
          </a:xfrm>
          <a:prstGeom prst="rect">
            <a:avLst/>
          </a:prstGeom>
          <a:solidFill>
            <a:srgbClr val="CA6F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75857" y="2123367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821577" y="400507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26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18411" y="2188159"/>
            <a:ext cx="502920" cy="1789481"/>
          </a:xfrm>
          <a:prstGeom prst="rect">
            <a:avLst/>
          </a:prstGeom>
          <a:solidFill>
            <a:srgbClr val="922B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6971" y="1959559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7.21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572691" y="400507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26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369526" y="1634686"/>
            <a:ext cx="502920" cy="2342954"/>
          </a:xfrm>
          <a:prstGeom prst="rect">
            <a:avLst/>
          </a:prstGeom>
          <a:solidFill>
            <a:srgbClr val="922B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78086" y="140608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323806" y="400507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26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3709590"/>
            <a:ext cx="4572000" cy="0"/>
          </a:xfrm>
          <a:prstGeom prst="line">
            <a:avLst/>
          </a:prstGeom>
          <a:noFill/>
          <a:ln w="19050">
            <a:solidFill>
              <a:srgbClr val="2E86C1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75488" y="350842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peak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349240" y="914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means: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49240" y="1316736"/>
            <a:ext cx="237744" cy="237744"/>
          </a:xfrm>
          <a:prstGeom prst="ellipse">
            <a:avLst/>
          </a:prstGeom>
          <a:solidFill>
            <a:srgbClr val="922B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1316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50992" y="12984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rate (9.44/day) is 8× the March 2025 rate (1.08/day)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49240" y="1883664"/>
            <a:ext cx="237744" cy="237744"/>
          </a:xfrm>
          <a:prstGeom prst="ellipse">
            <a:avLst/>
          </a:prstGeom>
          <a:solidFill>
            <a:srgbClr val="CA6F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18836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50992" y="186537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FV GP loss has jumped from $1.09/day → $5.12/day (+370%)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49240" y="2450592"/>
            <a:ext cx="237744" cy="237744"/>
          </a:xfrm>
          <a:prstGeom prst="ellipse">
            <a:avLst/>
          </a:prstGeom>
          <a:solidFill>
            <a:srgbClr val="1B4F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9240" y="2450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50992" y="243230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range expansion alone cannot explain an 8× increase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49240" y="3017520"/>
            <a:ext cx="237744" cy="237744"/>
          </a:xfrm>
          <a:prstGeom prst="ellipse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49240" y="3017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50992" y="29992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over-ordering and insufficient daily stock rotation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349240" y="3584448"/>
            <a:ext cx="237744" cy="237744"/>
          </a:xfrm>
          <a:prstGeom prst="ellipse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49240" y="3584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50992" y="35661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Solvable with better ordering controls — no new software required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8280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Key Findings: Waste Trend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20040" y="48280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Foodland Wudinna  |  Confidential  | 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Finding 2 — Separating Promotions from Waste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32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separation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2B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low-GP% events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922B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labelled "Markdown"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3474720" cy="502920"/>
          </a:xfrm>
          <a:prstGeom prst="rect">
            <a:avLst/>
          </a:prstGeom>
          <a:solidFill>
            <a:srgbClr val="922B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28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— All flagged as Markdown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promotional discounts were being counted as avoidable losses — inflating the markdown number by 58.7%.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25196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93268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cycle classification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3440" y="120700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Wednesday Specials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7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correctly separated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92040" y="1828800"/>
            <a:ext cx="2043684" cy="502920"/>
          </a:xfrm>
          <a:prstGeom prst="rect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828800"/>
            <a:ext cx="20436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58.7%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Specials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935724" y="1828800"/>
            <a:ext cx="1431036" cy="502920"/>
          </a:xfrm>
          <a:prstGeom prst="rect">
            <a:avLst/>
          </a:prstGeom>
          <a:solidFill>
            <a:srgbClr val="922B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35724" y="1828800"/>
            <a:ext cx="14310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41.3%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Markdowns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00600" y="2487168"/>
            <a:ext cx="3886200" cy="548640"/>
          </a:xfrm>
          <a:prstGeom prst="rect">
            <a:avLst/>
          </a:prstGeom>
          <a:solidFill>
            <a:srgbClr val="D5F0E3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2487168"/>
            <a:ext cx="64008" cy="548640"/>
          </a:xfrm>
          <a:prstGeom prst="rect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5237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Specials GP cost/day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0" y="27614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$15.30  →  2026: $12.05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092440" y="2642616"/>
            <a:ext cx="658368" cy="228600"/>
          </a:xfrm>
          <a:prstGeom prst="rect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2440" y="264261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-21.2%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0600" y="3145536"/>
            <a:ext cx="3886200" cy="548640"/>
          </a:xfrm>
          <a:prstGeom prst="rect">
            <a:avLst/>
          </a:prstGeom>
          <a:solidFill>
            <a:srgbClr val="FADBD8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145536"/>
            <a:ext cx="64008" cy="548640"/>
          </a:xfrm>
          <a:prstGeom prst="rect">
            <a:avLst/>
          </a:prstGeom>
          <a:solidFill>
            <a:srgbClr val="922B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1821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Markdown/day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0" y="34198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1.41  →  2026: 2.02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092440" y="3300984"/>
            <a:ext cx="658368" cy="228600"/>
          </a:xfrm>
          <a:prstGeom prst="rect">
            <a:avLst/>
          </a:prstGeom>
          <a:solidFill>
            <a:srgbClr val="922B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92440" y="3300984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+43%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3822192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algn="l"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Specials are improving. Unplanned markdowns are rising. These require opposite responses.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8280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Key Findings: Specials vs Markdowns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0040" y="48280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Foodland Wudinna  |  Confidential  | 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A6F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solidFill>
            <a:srgbClr val="CA6F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Quantified Losses &amp; Projections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Jan–Mar measured data with Seasonal Coverage Multiplier applied to project full year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55648"/>
          <a:ext cx="5074920" cy="2194560"/>
        </p:xfrm>
        <a:graphic>
          <a:graphicData uri="http://schemas.openxmlformats.org/drawingml/2006/table">
            <a:tbl>
              <a:tblPr/>
              <a:tblGrid>
                <a:gridCol w="2286000"/>
                <a:gridCol w="868680"/>
                <a:gridCol w="868680"/>
                <a:gridCol w="7772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/day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/day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 FV (waste)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22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22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+370%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Markdowns (barcoded)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A6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A6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GP (residual)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5D6D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A6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A6F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22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D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922B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+51.3%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5F7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D5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04164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double-counting: each loss event classified exactly once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623560" y="5486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Full-Year Projection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23560" y="896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2026 loss rate (central estimate)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23560" y="1261872"/>
            <a:ext cx="3291840" cy="749808"/>
          </a:xfrm>
          <a:prstGeom prst="rect">
            <a:avLst/>
          </a:prstGeom>
          <a:solidFill>
            <a:srgbClr val="163D55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0" y="13167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715000" y="15727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$3,023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040880" y="14813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(-10% seasonal adj.)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623560" y="2130552"/>
            <a:ext cx="3291840" cy="749808"/>
          </a:xfrm>
          <a:prstGeom prst="rect">
            <a:avLst/>
          </a:prstGeom>
          <a:solidFill>
            <a:srgbClr val="163D55"/>
          </a:solidFill>
          <a:ln w="25400">
            <a:solidFill>
              <a:srgbClr val="CA6F1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15000" y="21854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715000" y="24414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A6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$3,243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040880" y="23500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(primary estimate)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623560" y="2999232"/>
            <a:ext cx="3291840" cy="749808"/>
          </a:xfrm>
          <a:prstGeom prst="rect">
            <a:avLst/>
          </a:prstGeom>
          <a:solidFill>
            <a:srgbClr val="163D55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15000" y="30540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715000" y="33101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$3,462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040880" y="32186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(+10% — trend cont.)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623560" y="3867912"/>
            <a:ext cx="3291840" cy="640080"/>
          </a:xfrm>
          <a:prstGeom prst="rect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23560" y="3867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~$3,557 / year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623560" y="4178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5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annual benefit (GP + labour savings)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63D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0040" y="48280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Financial Impact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20040" y="48280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Foodland Wudinna  |  Confidential  | 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E86C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Already Built — Ready to Use Today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834640" cy="411480"/>
          </a:xfrm>
          <a:prstGeom prst="rect">
            <a:avLst/>
          </a:prstGeom>
          <a:solidFill>
            <a:srgbClr val="1B4F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06040" y="98755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987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9875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EDA Notebook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417320"/>
            <a:ext cx="2615184" cy="256032"/>
          </a:xfrm>
          <a:prstGeom prst="rect">
            <a:avLst/>
          </a:prstGeom>
          <a:solidFill>
            <a:srgbClr val="F4F6F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41732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Executive_EDA_Report.ipynb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" y="1801368"/>
            <a:ext cx="164592" cy="16459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7647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analysis sections + 61 code cells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377440"/>
            <a:ext cx="164592" cy="16459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340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performance, ABC classification, price elasticity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953512"/>
            <a:ext cx="164592" cy="16459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9169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vs. Markdown cycle classification (9.1c)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529584"/>
            <a:ext cx="164592" cy="16459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4930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forecast validation &amp; seasonal decomp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4105656"/>
            <a:ext cx="164592" cy="16459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4069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prioritised recommendations built in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36976" y="91440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36976" y="914400"/>
            <a:ext cx="2834640" cy="411480"/>
          </a:xfrm>
          <a:prstGeom prst="rect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68696" y="98755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68696" y="987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46704" y="9875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Waste Recording Log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46704" y="1417320"/>
            <a:ext cx="2615184" cy="256032"/>
          </a:xfrm>
          <a:prstGeom prst="rect">
            <a:avLst/>
          </a:prstGeom>
          <a:solidFill>
            <a:srgbClr val="F4F6F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141732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FruitVeg_Waste_Log.xlsx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374136" y="1801368"/>
            <a:ext cx="164592" cy="164592"/>
          </a:xfrm>
          <a:prstGeom prst="ellipse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84448" y="17647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 — no software needed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74136" y="2377440"/>
            <a:ext cx="164592" cy="164592"/>
          </a:xfrm>
          <a:prstGeom prst="ellipse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84448" y="2340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200-row log with dropdowns (Category, Reason, Unit)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74136" y="2953512"/>
            <a:ext cx="164592" cy="164592"/>
          </a:xfrm>
          <a:prstGeom prst="ellipse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84448" y="29169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Auto-calculates Waste Cost and Revenue Lost per row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74136" y="3529584"/>
            <a:ext cx="164592" cy="164592"/>
          </a:xfrm>
          <a:prstGeom prst="ellipse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84448" y="34930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sheet: totals by reason and sub-department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74136" y="4105656"/>
            <a:ext cx="164592" cy="164592"/>
          </a:xfrm>
          <a:prstGeom prst="ellipse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84448" y="4069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sheet for staff onboarding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99632" y="91440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99632" y="914400"/>
            <a:ext cx="2834640" cy="411480"/>
          </a:xfrm>
          <a:prstGeom prst="rect">
            <a:avLst/>
          </a:prstGeom>
          <a:solidFill>
            <a:srgbClr val="CA6F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31352" y="98755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31352" y="987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6F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09360" y="9875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Impact &amp; KPI Report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09360" y="1417320"/>
            <a:ext cx="2615184" cy="256032"/>
          </a:xfrm>
          <a:prstGeom prst="rect">
            <a:avLst/>
          </a:prstGeom>
          <a:solidFill>
            <a:srgbClr val="F4F6F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27648" y="141732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FruitVeg_FinancialImpact_KPI_Report.docx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336792" y="1801368"/>
            <a:ext cx="164592" cy="164592"/>
          </a:xfrm>
          <a:prstGeom prst="ellipse">
            <a:avLst/>
          </a:prstGeom>
          <a:solidFill>
            <a:srgbClr val="CA6F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47104" y="17647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9-section Word document with full methodology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36792" y="2377440"/>
            <a:ext cx="164592" cy="164592"/>
          </a:xfrm>
          <a:prstGeom prst="ellipse">
            <a:avLst/>
          </a:prstGeom>
          <a:solidFill>
            <a:srgbClr val="CA6F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47104" y="2340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losses table (no double-counting)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36792" y="2953512"/>
            <a:ext cx="164592" cy="164592"/>
          </a:xfrm>
          <a:prstGeom prst="ellipse">
            <a:avLst/>
          </a:prstGeom>
          <a:solidFill>
            <a:srgbClr val="CA6F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47104" y="29169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/ Central / Optimistic projections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336792" y="3529584"/>
            <a:ext cx="164592" cy="164592"/>
          </a:xfrm>
          <a:prstGeom prst="ellipse">
            <a:avLst/>
          </a:prstGeom>
          <a:solidFill>
            <a:srgbClr val="CA6F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47104" y="34930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framework: 9 metrics with baselines &amp; targets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36792" y="4105656"/>
            <a:ext cx="164592" cy="164592"/>
          </a:xfrm>
          <a:prstGeom prst="ellipse">
            <a:avLst/>
          </a:prstGeom>
          <a:solidFill>
            <a:srgbClr val="CA6F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47104" y="4069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action plan with measurement cadence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48280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Tools Built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20040" y="48280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Foodland Wudinna  |  Confidential  | 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 — Prioritised by Impact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8595360" cy="713232"/>
          </a:xfrm>
          <a:prstGeom prst="rect">
            <a:avLst/>
          </a:prstGeom>
          <a:solidFill>
            <a:srgbClr val="FADBD8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86968"/>
            <a:ext cx="64008" cy="713232"/>
          </a:xfrm>
          <a:prstGeom prst="rect">
            <a:avLst/>
          </a:prstGeom>
          <a:solidFill>
            <a:srgbClr val="922B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384048" cy="256032"/>
          </a:xfrm>
          <a:prstGeom prst="rect">
            <a:avLst/>
          </a:prstGeom>
          <a:solidFill>
            <a:srgbClr val="922B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941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 REDUCED FV waste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27101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 weeks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749040" y="978408"/>
            <a:ext cx="0" cy="530352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58768" y="94183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top 5 waste items and cut order quantities 15–20%. Action stock at 2–3 days from expiry — don't wait for same-day clearance.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90688" y="1069848"/>
            <a:ext cx="1005840" cy="329184"/>
          </a:xfrm>
          <a:prstGeom prst="rect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90688" y="10698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5.0 events/day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74320" y="1682496"/>
            <a:ext cx="8595360" cy="713232"/>
          </a:xfrm>
          <a:prstGeom prst="rect">
            <a:avLst/>
          </a:prstGeom>
          <a:solidFill>
            <a:srgbClr val="FADBD8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682496"/>
            <a:ext cx="64008" cy="713232"/>
          </a:xfrm>
          <a:prstGeom prst="rect">
            <a:avLst/>
          </a:prstGeom>
          <a:solidFill>
            <a:srgbClr val="922B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1892808"/>
            <a:ext cx="384048" cy="256032"/>
          </a:xfrm>
          <a:prstGeom prst="rect">
            <a:avLst/>
          </a:prstGeom>
          <a:solidFill>
            <a:srgbClr val="922B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89280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1737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Eliminate open-ring scanning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0665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 weeks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749040" y="1773936"/>
            <a:ext cx="0" cy="530352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58768" y="173736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PLU to every item. Retrain cashiers to use exact product codes. Add a register prompt on open-ring key press.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90688" y="1865376"/>
            <a:ext cx="1005840" cy="329184"/>
          </a:xfrm>
          <a:prstGeom prst="rect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90688" y="186537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0.5 lines/day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74320" y="2478024"/>
            <a:ext cx="8595360" cy="713232"/>
          </a:xfrm>
          <a:prstGeom prst="rect">
            <a:avLst/>
          </a:prstGeom>
          <a:solidFill>
            <a:srgbClr val="FDEBD0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478024"/>
            <a:ext cx="64008" cy="713232"/>
          </a:xfrm>
          <a:prstGeom prst="rect">
            <a:avLst/>
          </a:prstGeom>
          <a:solidFill>
            <a:srgbClr val="CA6F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2688336"/>
            <a:ext cx="384048" cy="256032"/>
          </a:xfrm>
          <a:prstGeom prst="rect">
            <a:avLst/>
          </a:prstGeom>
          <a:solidFill>
            <a:srgbClr val="CA6F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68833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68680" y="25328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rollbacks: Margin Trap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28620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months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749040" y="2569464"/>
            <a:ext cx="0" cy="530352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58768" y="253288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price reductions on Green Grapes and Baby Lebanese Cucumbers. Monitor volume response for 4 weeks before making permanent.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790688" y="2660904"/>
            <a:ext cx="1005840" cy="329184"/>
          </a:xfrm>
          <a:prstGeom prst="rect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90688" y="26609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50% GP gap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4320" y="3273552"/>
            <a:ext cx="8595360" cy="713232"/>
          </a:xfrm>
          <a:prstGeom prst="rect">
            <a:avLst/>
          </a:prstGeom>
          <a:solidFill>
            <a:srgbClr val="FDEBD0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273552"/>
            <a:ext cx="64008" cy="713232"/>
          </a:xfrm>
          <a:prstGeom prst="rect">
            <a:avLst/>
          </a:prstGeom>
          <a:solidFill>
            <a:srgbClr val="CA6F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3483864"/>
            <a:ext cx="384048" cy="256032"/>
          </a:xfrm>
          <a:prstGeom prst="rect">
            <a:avLst/>
          </a:prstGeom>
          <a:solidFill>
            <a:srgbClr val="CA6F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48386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68680" y="33284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ordering aid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8680" y="36576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months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749040" y="3364992"/>
            <a:ext cx="0" cy="530352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58768" y="3328416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4-week same-weekday moving average for top 20 items. Maintainable in a spreadsheet updated weekly from the POS export.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790688" y="3456432"/>
            <a:ext cx="1005840" cy="329184"/>
          </a:xfrm>
          <a:prstGeom prst="rect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90688" y="34564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±15% of sales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4069080"/>
            <a:ext cx="8595360" cy="713232"/>
          </a:xfrm>
          <a:prstGeom prst="rect">
            <a:avLst/>
          </a:prstGeom>
          <a:solidFill>
            <a:srgbClr val="F4F6F7"/>
          </a:solidFill>
          <a:ln w="12700">
            <a:solidFill>
              <a:srgbClr val="D5D8D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74320" y="4069080"/>
            <a:ext cx="64008" cy="713232"/>
          </a:xfrm>
          <a:prstGeom prst="rect">
            <a:avLst/>
          </a:prstGeom>
          <a:solidFill>
            <a:srgbClr val="2E86C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1480" y="4279392"/>
            <a:ext cx="384048" cy="256032"/>
          </a:xfrm>
          <a:prstGeom prst="rect">
            <a:avLst/>
          </a:prstGeom>
          <a:solidFill>
            <a:srgbClr val="2E86C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2793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68680" y="41239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Prophet demand forecast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68680" y="44531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 months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749040" y="4160520"/>
            <a:ext cx="0" cy="530352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58768" y="4123944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Prophet model with holiday regressors and Wednesday Special flags. Start with top 10 items and validate before extending.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790688" y="4251960"/>
            <a:ext cx="1005840" cy="329184"/>
          </a:xfrm>
          <a:prstGeom prst="rect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90688" y="42519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&lt; 15%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48280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Recommendations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20040" y="48280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Foodland Wudinna  |  Confidential  | 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Will Measure Success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trackable from weekly POS export — no new software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92608" y="822960"/>
            <a:ext cx="2880360" cy="274320"/>
          </a:xfrm>
          <a:prstGeom prst="rect">
            <a:avLst/>
          </a:prstGeom>
          <a:solidFill>
            <a:srgbClr val="2C5F7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822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46120" y="822960"/>
            <a:ext cx="1325880" cy="274320"/>
          </a:xfrm>
          <a:prstGeom prst="rect">
            <a:avLst/>
          </a:prstGeom>
          <a:solidFill>
            <a:srgbClr val="2C5F7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8229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(2026)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960120" cy="274320"/>
          </a:xfrm>
          <a:prstGeom prst="rect">
            <a:avLst/>
          </a:prstGeom>
          <a:solidFill>
            <a:srgbClr val="2C5F7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822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715000" y="822960"/>
            <a:ext cx="1097280" cy="274320"/>
          </a:xfrm>
          <a:prstGeom prst="rect">
            <a:avLst/>
          </a:prstGeom>
          <a:solidFill>
            <a:srgbClr val="2C5F7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822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903720" y="822960"/>
            <a:ext cx="1097280" cy="274320"/>
          </a:xfrm>
          <a:prstGeom prst="rect">
            <a:avLst/>
          </a:prstGeom>
          <a:solidFill>
            <a:srgbClr val="2C5F7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822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092440" y="822960"/>
            <a:ext cx="868680" cy="274320"/>
          </a:xfrm>
          <a:prstGeom prst="rect">
            <a:avLst/>
          </a:prstGeom>
          <a:solidFill>
            <a:srgbClr val="2C5F7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822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2608" y="1124712"/>
            <a:ext cx="866851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" y="1124712"/>
            <a:ext cx="64008" cy="457200"/>
          </a:xfrm>
          <a:prstGeom prst="rect">
            <a:avLst/>
          </a:prstGeom>
          <a:solidFill>
            <a:srgbClr val="922B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188720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FV lines/day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9272" y="1188720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36592" y="1188720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5.0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88152" y="118872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3.0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76872" y="118872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65592" y="1188720"/>
            <a:ext cx="75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92608" y="1627632"/>
            <a:ext cx="8668512" cy="457200"/>
          </a:xfrm>
          <a:prstGeom prst="rect">
            <a:avLst/>
          </a:prstGeom>
          <a:solidFill>
            <a:srgbClr val="F4F6F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" y="1627632"/>
            <a:ext cx="64008" cy="457200"/>
          </a:xfrm>
          <a:prstGeom prst="rect">
            <a:avLst/>
          </a:prstGeom>
          <a:solidFill>
            <a:srgbClr val="922B2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1691640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Loss/day (avoidable)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19272" y="1691640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$15.89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36592" y="1691640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&lt;$12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88152" y="169164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&lt;$9.50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76872" y="169164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165592" y="1691640"/>
            <a:ext cx="75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92608" y="2130552"/>
            <a:ext cx="866851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2608" y="2130552"/>
            <a:ext cx="64008" cy="457200"/>
          </a:xfrm>
          <a:prstGeom prst="rect">
            <a:avLst/>
          </a:prstGeom>
          <a:solidFill>
            <a:srgbClr val="CA6F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194560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Markdown events/day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19272" y="2194560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36592" y="2194560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1.7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788152" y="219456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1.5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76872" y="219456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165592" y="2194560"/>
            <a:ext cx="75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92608" y="2633472"/>
            <a:ext cx="8668512" cy="457200"/>
          </a:xfrm>
          <a:prstGeom prst="rect">
            <a:avLst/>
          </a:prstGeom>
          <a:solidFill>
            <a:srgbClr val="F4F6F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2608" y="2633472"/>
            <a:ext cx="64008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2697480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Revenue/day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19272" y="2697480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$2,448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36592" y="2697480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&gt;$2,500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88152" y="269748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&gt;$2,600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976872" y="269748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165592" y="2697480"/>
            <a:ext cx="75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92608" y="3136392"/>
            <a:ext cx="866851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" y="3136392"/>
            <a:ext cx="64008" cy="457200"/>
          </a:xfrm>
          <a:prstGeom prst="rect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3200400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%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319272" y="3200400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37.8%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36592" y="3200400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&gt;37.5%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788152" y="320040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&gt;38.5%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976872" y="320040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165592" y="3200400"/>
            <a:ext cx="75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92608" y="3639312"/>
            <a:ext cx="8668512" cy="457200"/>
          </a:xfrm>
          <a:prstGeom prst="rect">
            <a:avLst/>
          </a:prstGeom>
          <a:solidFill>
            <a:srgbClr val="F4F6F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92608" y="3639312"/>
            <a:ext cx="64008" cy="457200"/>
          </a:xfrm>
          <a:prstGeom prst="rect">
            <a:avLst/>
          </a:prstGeom>
          <a:solidFill>
            <a:srgbClr val="CA6F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3703320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ring lines/day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319272" y="3703320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736592" y="3703320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1.0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788152" y="370332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0.5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976872" y="370332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165592" y="3703320"/>
            <a:ext cx="75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92608" y="4142232"/>
            <a:ext cx="866851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92608" y="4142232"/>
            <a:ext cx="64008" cy="457200"/>
          </a:xfrm>
          <a:prstGeom prst="rect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4206240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log entries/week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3319272" y="4206240"/>
            <a:ext cx="1216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736592" y="4206240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788152" y="420624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976872" y="4206240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165592" y="4206240"/>
            <a:ext cx="75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0040" y="48280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KPI Framework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320040" y="48280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Foodland Wudinna  |  Confidential  | 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Need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Move Forward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5029200" cy="658368"/>
          </a:xfrm>
          <a:prstGeom prst="rect">
            <a:avLst/>
          </a:prstGeom>
          <a:solidFill>
            <a:srgbClr val="163D55"/>
          </a:solidFill>
          <a:ln w="12700">
            <a:solidFill>
              <a:srgbClr val="1A7A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2029968"/>
            <a:ext cx="256032" cy="256032"/>
          </a:xfrm>
          <a:prstGeom prst="ellipse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2029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" y="18836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endorsement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8096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on a formal waste reduction initiative. Gives the team mandate to change ordering practices and hold accountability.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578608"/>
            <a:ext cx="5029200" cy="658368"/>
          </a:xfrm>
          <a:prstGeom prst="rect">
            <a:avLst/>
          </a:prstGeom>
          <a:solidFill>
            <a:srgbClr val="163D55"/>
          </a:solidFill>
          <a:ln w="12700">
            <a:solidFill>
              <a:srgbClr val="1A7A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2779776"/>
            <a:ext cx="256032" cy="256032"/>
          </a:xfrm>
          <a:prstGeom prst="ellipse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8096" y="2633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min / week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8096" y="2898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review of REDUCED FV lines/day and open ring count from the POS export. Two numbers, 15 minutes — that's the early warning system.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328416"/>
            <a:ext cx="5029200" cy="658368"/>
          </a:xfrm>
          <a:prstGeom prst="rect">
            <a:avLst/>
          </a:prstGeom>
          <a:solidFill>
            <a:srgbClr val="163D55"/>
          </a:solidFill>
          <a:ln w="12700">
            <a:solidFill>
              <a:srgbClr val="1A7A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3529584"/>
            <a:ext cx="256032" cy="256032"/>
          </a:xfrm>
          <a:prstGeom prst="ellipse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529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8096" y="3383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7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Staff buy-in support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8096" y="3648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the team on the waste log and PLU discipline. Requires a 10-minute conversation — we have the materials ready.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078224"/>
            <a:ext cx="5029200" cy="658368"/>
          </a:xfrm>
          <a:prstGeom prst="rect">
            <a:avLst/>
          </a:prstGeom>
          <a:solidFill>
            <a:srgbClr val="163D55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4279392"/>
            <a:ext cx="256032" cy="25603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4279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68096" y="4133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86C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Future: forecast model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8096" y="43982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 month phase: budget conversation for basic forecasting tools once Phase 1 savings are confirmed (target: MAPE &lt; 15%).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23560" y="502920"/>
            <a:ext cx="3246120" cy="4251960"/>
          </a:xfrm>
          <a:prstGeom prst="rect">
            <a:avLst/>
          </a:prstGeom>
          <a:solidFill>
            <a:srgbClr val="163D55"/>
          </a:solidFill>
          <a:ln w="19050">
            <a:solidFill>
              <a:srgbClr val="1A7A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23560" y="502920"/>
            <a:ext cx="3246120" cy="384048"/>
          </a:xfrm>
          <a:prstGeom prst="rect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5029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Initiative Summary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15000" y="98755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903720" y="98755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events ×8, losses +51% YoY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715000" y="1444752"/>
            <a:ext cx="3017520" cy="0"/>
          </a:xfrm>
          <a:prstGeom prst="line">
            <a:avLst/>
          </a:prstGeom>
          <a:noFill/>
          <a:ln w="6350">
            <a:solidFill>
              <a:srgbClr val="2C5F7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1517904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903720" y="151790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days (2025) + 66 days (2026)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715000" y="1975104"/>
            <a:ext cx="3017520" cy="0"/>
          </a:xfrm>
          <a:prstGeom prst="line">
            <a:avLst/>
          </a:prstGeom>
          <a:noFill/>
          <a:ln w="6350">
            <a:solidFill>
              <a:srgbClr val="2C5F7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15000" y="2048256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ready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903720" y="204825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deliverables built &amp; validated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715000" y="2505456"/>
            <a:ext cx="3017520" cy="0"/>
          </a:xfrm>
          <a:prstGeom prst="line">
            <a:avLst/>
          </a:prstGeom>
          <a:noFill/>
          <a:ln w="6350">
            <a:solidFill>
              <a:srgbClr val="2C5F7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15000" y="257860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</a:t>
            </a:r>
            <a:endParaRPr lang="en-US" sz="85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903720" y="257860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$3,243/year at current rate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715000" y="3035808"/>
            <a:ext cx="3017520" cy="0"/>
          </a:xfrm>
          <a:prstGeom prst="line">
            <a:avLst/>
          </a:prstGeom>
          <a:noFill/>
          <a:ln w="6350">
            <a:solidFill>
              <a:srgbClr val="2C5F7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15000" y="310896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</a:t>
            </a:r>
            <a:endParaRPr lang="en-US" sz="85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903720" y="310896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~$3,557/year (GP + labour)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715000" y="3566160"/>
            <a:ext cx="3017520" cy="0"/>
          </a:xfrm>
          <a:prstGeom prst="line">
            <a:avLst/>
          </a:prstGeom>
          <a:noFill/>
          <a:ln w="6350">
            <a:solidFill>
              <a:srgbClr val="2C5F7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15000" y="363931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5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903720" y="363931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— tools already built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715000" y="4096512"/>
            <a:ext cx="3017520" cy="0"/>
          </a:xfrm>
          <a:prstGeom prst="line">
            <a:avLst/>
          </a:prstGeom>
          <a:noFill/>
          <a:ln w="6350">
            <a:solidFill>
              <a:srgbClr val="2C5F7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15000" y="4169664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5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903720" y="416966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 weeks for first actions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63D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48280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The Ask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20040" y="48280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Foodland Wudinna  |  Confidential  | 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63D5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457200"/>
            <a:ext cx="2743200" cy="2743200"/>
          </a:xfrm>
          <a:prstGeom prst="ellipse">
            <a:avLst/>
          </a:prstGeom>
          <a:solidFill>
            <a:srgbClr val="1A7A44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3474720"/>
            <a:ext cx="2286000" cy="2286000"/>
          </a:xfrm>
          <a:prstGeom prst="ellipse">
            <a:avLst/>
          </a:prstGeom>
          <a:solidFill>
            <a:srgbClr val="2E86C1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00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4114800" cy="45720"/>
          </a:xfrm>
          <a:prstGeom prst="rect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55648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is done.</a:t>
            </a:r>
            <a:endParaRPr lang="en-US" sz="1800" dirty="0"/>
          </a:p>
          <a:p>
            <a:pPr algn="l" indent="0" marL="0">
              <a:buNone/>
            </a:pPr>
            <a:r>
              <a:rPr lang="en-US" sz="18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are built.</a:t>
            </a:r>
            <a:endParaRPr lang="en-US" sz="1800" dirty="0"/>
          </a:p>
          <a:p>
            <a:pPr algn="l" indent="0" marL="0">
              <a:buNone/>
            </a:pPr>
            <a:r>
              <a:rPr lang="en-US" sz="18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just need to start.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31546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Fábio  |  fabio.henrique.fma@gmail.com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3520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5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Foodland Wudinna  |  Wudinna SA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3886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Executive_EDA_Report.ipynb  |  FruitVeg_Waste_Log.xlsx  |  FinancialImpact_KPI_Report.docx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035040" y="1645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309360" y="2212848"/>
            <a:ext cx="2377440" cy="0"/>
          </a:xfrm>
          <a:prstGeom prst="line">
            <a:avLst/>
          </a:prstGeom>
          <a:noFill/>
          <a:ln w="19050">
            <a:solidFill>
              <a:srgbClr val="1A7A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44768" y="2359152"/>
            <a:ext cx="201168" cy="201168"/>
          </a:xfrm>
          <a:prstGeom prst="ellipse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23317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methodology in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FinancialImpact_KPI_Report.docx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44768" y="3044952"/>
            <a:ext cx="201168" cy="201168"/>
          </a:xfrm>
          <a:prstGeom prst="ellipse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30175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 in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Executive_EDA_Report.ipynb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44768" y="3730752"/>
            <a:ext cx="201168" cy="201168"/>
          </a:xfrm>
          <a:prstGeom prst="ellipse">
            <a:avLst/>
          </a:prstGeom>
          <a:solidFill>
            <a:srgbClr val="1A7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37033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tracking template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FruitVeg_Waste_Log.xlsx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Fruit &amp; Veg Initiative — Foodland Wudinna</dc:title>
  <dc:subject>PptxGenJS Presentation</dc:subject>
  <dc:creator>Foodland Wudinna</dc:creator>
  <cp:lastModifiedBy>Foodland Wudinna</cp:lastModifiedBy>
  <cp:revision>1</cp:revision>
  <dcterms:created xsi:type="dcterms:W3CDTF">2026-03-22T08:53:03Z</dcterms:created>
  <dcterms:modified xsi:type="dcterms:W3CDTF">2026-03-22T08:53:03Z</dcterms:modified>
</cp:coreProperties>
</file>